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658368"/>
            <a:ext cx="1143000" cy="82296"/>
          </a:xfrm>
          <a:prstGeom prst="roundRect">
            <a:avLst/>
          </a:prstGeom>
          <a:solidFill>
            <a:srgbClr val="25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6492240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6FAFF"/>
                </a:solidFill>
                <a:latin typeface="Aptos"/>
              </a:defRPr>
            </a:pPr>
            <a:r>
              <a:t>SMART BRIDGE HEALTH</a:t>
            </a:r>
          </a:p>
          <a:p>
            <a:pPr algn="l">
              <a:spcAft>
                <a:spcPts val="600"/>
              </a:spcAft>
              <a:defRPr sz="3000" b="1">
                <a:solidFill>
                  <a:srgbClr val="F6FAFF"/>
                </a:solidFill>
                <a:latin typeface="Aptos"/>
              </a:defRPr>
            </a:pPr>
            <a:r>
              <a:t>MONITORING USING IoT SENSORS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743200"/>
            <a:ext cx="566928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8BE4EF"/>
                </a:solidFill>
                <a:latin typeface="Aptos"/>
              </a:defRPr>
            </a:pPr>
            <a:r>
              <a:t>Real-time structural monitoring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8BE4EF"/>
                </a:solidFill>
                <a:latin typeface="Aptos"/>
              </a:defRPr>
            </a:pPr>
            <a:r>
              <a:t>and early fault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3886200"/>
            <a:ext cx="5715000" cy="1188720"/>
          </a:xfrm>
          <a:prstGeom prst="round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096512"/>
            <a:ext cx="530352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F6FAFF"/>
                </a:solidFill>
                <a:latin typeface="Aptos"/>
              </a:defRPr>
            </a:pPr>
            <a:r>
              <a:t>PRESENTED BY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F6FAFF"/>
                </a:solidFill>
                <a:latin typeface="Aptos"/>
              </a:defRPr>
            </a:pPr>
            <a:r>
              <a:t>Gannoji Arshitha  •  Sravana Lakshmi  •  Deekshitha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F6FAFF"/>
                </a:solidFill>
                <a:latin typeface="Aptos"/>
              </a:defRPr>
            </a:pPr>
            <a:r>
              <a:t>B.Tech – Artificial Intelligence &amp; Data Science | KL Deemed to be University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675120" y="1554480"/>
            <a:ext cx="411480" cy="3840480"/>
          </a:xfrm>
          <a:prstGeom prst="line">
            <a:avLst/>
          </a:prstGeom>
          <a:ln w="16510">
            <a:solidFill>
              <a:srgbClr val="1941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33488" y="1554480"/>
            <a:ext cx="411479" cy="3840480"/>
          </a:xfrm>
          <a:prstGeom prst="line">
            <a:avLst/>
          </a:prstGeom>
          <a:ln w="16510">
            <a:solidFill>
              <a:srgbClr val="1941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991856" y="1554480"/>
            <a:ext cx="411480" cy="3840480"/>
          </a:xfrm>
          <a:prstGeom prst="line">
            <a:avLst/>
          </a:prstGeom>
          <a:ln w="16510">
            <a:solidFill>
              <a:srgbClr val="1941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50224" y="1554480"/>
            <a:ext cx="411480" cy="3840480"/>
          </a:xfrm>
          <a:prstGeom prst="line">
            <a:avLst/>
          </a:prstGeom>
          <a:ln w="16510">
            <a:solidFill>
              <a:srgbClr val="1941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308592" y="1554480"/>
            <a:ext cx="411480" cy="3840480"/>
          </a:xfrm>
          <a:prstGeom prst="line">
            <a:avLst/>
          </a:prstGeom>
          <a:ln w="16510">
            <a:solidFill>
              <a:srgbClr val="1941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966959" y="1554480"/>
            <a:ext cx="411480" cy="3840480"/>
          </a:xfrm>
          <a:prstGeom prst="line">
            <a:avLst/>
          </a:prstGeom>
          <a:ln w="16510">
            <a:solidFill>
              <a:srgbClr val="1941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625328" y="1554480"/>
            <a:ext cx="411480" cy="3840480"/>
          </a:xfrm>
          <a:prstGeom prst="line">
            <a:avLst/>
          </a:prstGeom>
          <a:ln w="16510">
            <a:solidFill>
              <a:srgbClr val="1941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949440" y="4617720"/>
            <a:ext cx="109728" cy="109728"/>
          </a:xfrm>
          <a:prstGeom prst="ellipse">
            <a:avLst/>
          </a:prstGeom>
          <a:solidFill>
            <a:srgbClr val="25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4617720"/>
            <a:ext cx="109728" cy="109728"/>
          </a:xfrm>
          <a:prstGeom prst="ellipse">
            <a:avLst/>
          </a:prstGeom>
          <a:solidFill>
            <a:srgbClr val="25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21040" y="4617720"/>
            <a:ext cx="109728" cy="109728"/>
          </a:xfrm>
          <a:prstGeom prst="ellipse">
            <a:avLst/>
          </a:prstGeom>
          <a:solidFill>
            <a:srgbClr val="25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006840" y="4617720"/>
            <a:ext cx="109728" cy="109728"/>
          </a:xfrm>
          <a:prstGeom prst="ellipse">
            <a:avLst/>
          </a:prstGeom>
          <a:solidFill>
            <a:srgbClr val="25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92640" y="4617720"/>
            <a:ext cx="109728" cy="109728"/>
          </a:xfrm>
          <a:prstGeom prst="ellipse">
            <a:avLst/>
          </a:prstGeom>
          <a:solidFill>
            <a:srgbClr val="25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78440" y="4617720"/>
            <a:ext cx="109728" cy="109728"/>
          </a:xfrm>
          <a:prstGeom prst="ellipse">
            <a:avLst/>
          </a:prstGeom>
          <a:solidFill>
            <a:srgbClr val="25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6217920"/>
            <a:ext cx="548640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AEC0D3"/>
                </a:solidFill>
                <a:latin typeface="Aptos"/>
              </a:defRPr>
            </a:pPr>
            <a:r>
              <a:t>IoT  /  SENSOR NETWORKS  /  STRUCTURAL HEALTH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10528"/>
            <a:ext cx="41148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AEC0D3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64008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5C9BB"/>
                </a:solidFill>
                <a:latin typeface="Aptos"/>
              </a:defRPr>
            </a:pPr>
            <a:r>
              <a:t>01 —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6FAFF"/>
                </a:solidFill>
                <a:latin typeface="Aptos"/>
              </a:defRPr>
            </a:pPr>
            <a:r>
              <a:t>Why bridge health monitoring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EC0D3"/>
                </a:solidFill>
                <a:latin typeface="Aptos"/>
              </a:defRPr>
            </a:pPr>
            <a:r>
              <a:t>Continuous measurements help engineers notice changes between scheduled inspections.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329184"/>
            <a:ext cx="594360" cy="64008"/>
          </a:xfrm>
          <a:prstGeom prst="roundRect">
            <a:avLst/>
          </a:prstGeom>
          <a:solidFill>
            <a:srgbClr val="25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AEC0D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49240" cy="3383280"/>
          </a:xfrm>
          <a:prstGeom prst="round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64008" cy="3383280"/>
          </a:xfrm>
          <a:prstGeom prst="rect">
            <a:avLst/>
          </a:prstGeom>
          <a:solidFill>
            <a:srgbClr val="8B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48920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6FAFF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4892040" cy="2633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AEC0D3"/>
                </a:solidFill>
                <a:latin typeface="Aptos"/>
              </a:defRPr>
            </a:pPr>
            <a:r>
              <a:t>•  Bridges face traffic loads, vibration, wind and environmental changes.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AEC0D3"/>
                </a:solidFill>
                <a:latin typeface="Aptos"/>
              </a:defRPr>
            </a:pPr>
            <a:r>
              <a:t>•  Long-term loading and weather can change structural behaviour.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AEC0D3"/>
                </a:solidFill>
                <a:latin typeface="Aptos"/>
              </a:defRPr>
            </a:pPr>
            <a:r>
              <a:t>•  Periodic inspections may miss changes that happen between visits.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321808" cy="3383280"/>
          </a:xfrm>
          <a:prstGeom prst="round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64008" cy="3383280"/>
          </a:xfrm>
          <a:prstGeom prst="rect">
            <a:avLst/>
          </a:prstGeom>
          <a:solidFill>
            <a:srgbClr val="25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4864608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6FAFF"/>
                </a:solidFill>
                <a:latin typeface="Aptos"/>
              </a:defRPr>
            </a:pPr>
            <a:r>
              <a:t>THE IoT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468880"/>
            <a:ext cx="4864608" cy="2633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AEC0D3"/>
                </a:solidFill>
                <a:latin typeface="Aptos"/>
              </a:defRPr>
            </a:pPr>
            <a:r>
              <a:t>•  Sensors collect structural and environmental readings continuously.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AEC0D3"/>
                </a:solidFill>
                <a:latin typeface="Aptos"/>
              </a:defRPr>
            </a:pPr>
            <a:r>
              <a:t>•  Wireless links send measurements to a server or cloud platform.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AEC0D3"/>
                </a:solidFill>
                <a:latin typeface="Aptos"/>
              </a:defRPr>
            </a:pPr>
            <a:r>
              <a:t>•  Analytics compare readings with baseline conditions and flag abnormal trends.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AEC0D3"/>
                </a:solidFill>
                <a:latin typeface="Aptos"/>
              </a:defRPr>
            </a:pPr>
            <a:r>
              <a:t>•  A remote dashboard supports monitoring and maintenance planning.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486400"/>
            <a:ext cx="10881360" cy="566928"/>
          </a:xfrm>
          <a:prstGeom prst="roundRect">
            <a:avLst/>
          </a:prstGeom>
          <a:solidFill>
            <a:srgbClr val="122B45"/>
          </a:solidFill>
          <a:ln>
            <a:solidFill>
              <a:srgbClr val="25C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623560"/>
            <a:ext cx="1042416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6FAFF"/>
                </a:solidFill>
                <a:latin typeface="Aptos"/>
              </a:defRPr>
            </a:pPr>
            <a:r>
              <a:t>GOAL  •  Detect abnormal structural conditions early and support timely inspection.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64008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5C9BB"/>
                </a:solidFill>
                <a:latin typeface="Aptos"/>
              </a:defRPr>
            </a:pPr>
            <a:r>
              <a:t>02 —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6FAFF"/>
                </a:solidFill>
                <a:latin typeface="Aptos"/>
              </a:defRPr>
            </a:pPr>
            <a:r>
              <a:t>From sensors to actionable alerts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EC0D3"/>
                </a:solidFill>
                <a:latin typeface="Aptos"/>
              </a:defRPr>
            </a:pPr>
            <a:r>
              <a:t>A simple IoT pipeline connects field measurements to a dashboard engineers can review remotely.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329184"/>
            <a:ext cx="594360" cy="64008"/>
          </a:xfrm>
          <a:prstGeom prst="roundRect">
            <a:avLst/>
          </a:prstGeom>
          <a:solidFill>
            <a:srgbClr val="25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AEC0D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31720"/>
            <a:ext cx="1901952" cy="1828800"/>
          </a:xfrm>
          <a:prstGeom prst="roundRect">
            <a:avLst/>
          </a:prstGeom>
          <a:solidFill>
            <a:srgbClr val="8B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2487168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8BE4E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834640"/>
            <a:ext cx="1627632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6FAFF"/>
                </a:solidFill>
                <a:latin typeface="Aptos"/>
              </a:defRPr>
            </a:pPr>
            <a:r>
              <a:t>IoT Sensors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3364992"/>
            <a:ext cx="1627632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AEC0D3"/>
                </a:solidFill>
                <a:latin typeface="Aptos"/>
              </a:defRPr>
            </a:pPr>
            <a:r>
              <a:t>Measure strain,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AEC0D3"/>
                </a:solidFill>
                <a:latin typeface="Aptos"/>
              </a:defRPr>
            </a:pPr>
            <a:r>
              <a:t>vibration and more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23160" y="3218688"/>
            <a:ext cx="320040" cy="0"/>
          </a:xfrm>
          <a:prstGeom prst="line">
            <a:avLst/>
          </a:prstGeom>
          <a:ln w="25400">
            <a:solidFill>
              <a:srgbClr val="25C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16352" y="2331720"/>
            <a:ext cx="1901952" cy="1828800"/>
          </a:xfrm>
          <a:prstGeom prst="roundRect">
            <a:avLst/>
          </a:prstGeom>
          <a:solidFill>
            <a:srgbClr val="25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62656" y="2487168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25C9B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62656" y="2834640"/>
            <a:ext cx="1627632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6FAFF"/>
                </a:solidFill>
                <a:latin typeface="Aptos"/>
              </a:defRPr>
            </a:pPr>
            <a:r>
              <a:t>ESP32 / 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2656" y="3364992"/>
            <a:ext cx="1627632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AEC0D3"/>
                </a:solidFill>
                <a:latin typeface="Aptos"/>
              </a:defRPr>
            </a:pPr>
            <a:r>
              <a:t>Collect and prepare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AEC0D3"/>
                </a:solidFill>
                <a:latin typeface="Aptos"/>
              </a:defRPr>
            </a:pPr>
            <a:r>
              <a:t>readings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36592" y="3218688"/>
            <a:ext cx="320040" cy="0"/>
          </a:xfrm>
          <a:prstGeom prst="line">
            <a:avLst/>
          </a:prstGeom>
          <a:ln w="25400">
            <a:solidFill>
              <a:srgbClr val="25C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29784" y="2331720"/>
            <a:ext cx="1901952" cy="1828800"/>
          </a:xfrm>
          <a:prstGeom prst="roundRect">
            <a:avLst/>
          </a:prstGeom>
          <a:solidFill>
            <a:srgbClr val="8B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76088" y="2487168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8BE4E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6088" y="2834640"/>
            <a:ext cx="1627632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6FAFF"/>
                </a:solidFill>
                <a:latin typeface="Aptos"/>
              </a:defRPr>
            </a:pPr>
            <a:r>
              <a:t>Wi-Fi / LoRa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6088" y="3364992"/>
            <a:ext cx="1627632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AEC0D3"/>
                </a:solidFill>
                <a:latin typeface="Aptos"/>
              </a:defRPr>
            </a:pPr>
            <a:r>
              <a:t>Transmit data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AEC0D3"/>
                </a:solidFill>
                <a:latin typeface="Aptos"/>
              </a:defRPr>
            </a:pPr>
            <a:r>
              <a:t>wirelessly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50024" y="3218688"/>
            <a:ext cx="320040" cy="0"/>
          </a:xfrm>
          <a:prstGeom prst="line">
            <a:avLst/>
          </a:prstGeom>
          <a:ln w="25400">
            <a:solidFill>
              <a:srgbClr val="25C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443216" y="2331720"/>
            <a:ext cx="1901952" cy="1828800"/>
          </a:xfrm>
          <a:prstGeom prst="roundRect">
            <a:avLst/>
          </a:prstGeom>
          <a:solidFill>
            <a:srgbClr val="25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2487168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25C9B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834640"/>
            <a:ext cx="1627632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6FAFF"/>
                </a:solidFill>
                <a:latin typeface="Aptos"/>
              </a:defRPr>
            </a:pPr>
            <a:r>
              <a:t>Cloud / 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364992"/>
            <a:ext cx="1627632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AEC0D3"/>
                </a:solidFill>
                <a:latin typeface="Aptos"/>
              </a:defRPr>
            </a:pPr>
            <a:r>
              <a:t>Store live and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AEC0D3"/>
                </a:solidFill>
                <a:latin typeface="Aptos"/>
              </a:defRPr>
            </a:pPr>
            <a:r>
              <a:t>historical readings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363456" y="3218688"/>
            <a:ext cx="320040" cy="0"/>
          </a:xfrm>
          <a:prstGeom prst="line">
            <a:avLst/>
          </a:prstGeom>
          <a:ln w="25400">
            <a:solidFill>
              <a:srgbClr val="25C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756648" y="2331720"/>
            <a:ext cx="1901952" cy="1828800"/>
          </a:xfrm>
          <a:prstGeom prst="roundRect">
            <a:avLst/>
          </a:prstGeom>
          <a:solidFill>
            <a:srgbClr val="37D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02952" y="2487168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37D59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2952" y="2834640"/>
            <a:ext cx="1627632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6FAFF"/>
                </a:solidFill>
                <a:latin typeface="Aptos"/>
              </a:defRPr>
            </a:pPr>
            <a:r>
              <a:t>Dashboard + Alert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2952" y="3364992"/>
            <a:ext cx="1627632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AEC0D3"/>
                </a:solidFill>
                <a:latin typeface="Aptos"/>
              </a:defRPr>
            </a:pPr>
            <a:r>
              <a:t>Visualise condition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AEC0D3"/>
                </a:solidFill>
                <a:latin typeface="Aptos"/>
              </a:defRPr>
            </a:pPr>
            <a:r>
              <a:t>and flag changes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4800600"/>
            <a:ext cx="10287000" cy="749808"/>
          </a:xfrm>
          <a:prstGeom prst="round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5010912"/>
            <a:ext cx="98298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F6FAFF"/>
                </a:solidFill>
                <a:latin typeface="Aptos"/>
              </a:defRPr>
            </a:pPr>
            <a:r>
              <a:t>Measure  →  Transmit  →  Analyse  →  Classify  →  Notify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852160"/>
            <a:ext cx="102412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AEC0D3"/>
                </a:solidFill>
                <a:latin typeface="Aptos"/>
              </a:defRPr>
            </a:pPr>
            <a:r>
              <a:t>The controller may process readings at the edge; the cloud/server stores measurements for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64008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5C9BB"/>
                </a:solidFill>
                <a:latin typeface="Aptos"/>
              </a:defRPr>
            </a:pPr>
            <a:r>
              <a:t>03 — INSTRUMENTATION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6FAFF"/>
                </a:solidFill>
                <a:latin typeface="Aptos"/>
              </a:defRPr>
            </a:pPr>
            <a:r>
              <a:t>Sensors and parameters monitored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EC0D3"/>
                </a:solidFill>
                <a:latin typeface="Aptos"/>
              </a:defRPr>
            </a:pPr>
            <a:r>
              <a:t>Different sensors provide complementary views of structural response and environmental conditions.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329184"/>
            <a:ext cx="594360" cy="64008"/>
          </a:xfrm>
          <a:prstGeom prst="roundRect">
            <a:avLst/>
          </a:prstGeom>
          <a:solidFill>
            <a:srgbClr val="25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AEC0D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28800"/>
            <a:ext cx="2761488" cy="475488"/>
          </a:xfrm>
          <a:prstGeom prst="roundRect">
            <a:avLst/>
          </a:prstGeom>
          <a:solidFill>
            <a:srgbClr val="122B45"/>
          </a:solidFill>
          <a:ln>
            <a:solidFill>
              <a:srgbClr val="25C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947672"/>
            <a:ext cx="256032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5C9BB"/>
                </a:solidFill>
                <a:latin typeface="Aptos"/>
              </a:defRPr>
            </a:pPr>
            <a:r>
              <a:t>SENSOR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47872" y="1828800"/>
            <a:ext cx="2990088" cy="475488"/>
          </a:xfrm>
          <a:prstGeom prst="roundRect">
            <a:avLst/>
          </a:prstGeom>
          <a:solidFill>
            <a:srgbClr val="122B45"/>
          </a:solidFill>
          <a:ln>
            <a:solidFill>
              <a:srgbClr val="25C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6744" y="1947672"/>
            <a:ext cx="278892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5C9BB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11112" y="1828800"/>
            <a:ext cx="4727448" cy="475488"/>
          </a:xfrm>
          <a:prstGeom prst="roundRect">
            <a:avLst/>
          </a:prstGeom>
          <a:solidFill>
            <a:srgbClr val="122B45"/>
          </a:solidFill>
          <a:ln>
            <a:solidFill>
              <a:srgbClr val="25C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9984" y="1947672"/>
            <a:ext cx="452628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5C9BB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386584"/>
            <a:ext cx="2761488" cy="457200"/>
          </a:xfrm>
          <a:prstGeom prst="round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496312"/>
            <a:ext cx="25603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F6FAFF"/>
                </a:solidFill>
                <a:latin typeface="Aptos"/>
              </a:defRPr>
            </a:pPr>
            <a:r>
              <a:t>Strain sensor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2386584"/>
            <a:ext cx="2990088" cy="457200"/>
          </a:xfrm>
          <a:prstGeom prst="round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66744" y="2496312"/>
            <a:ext cx="2788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EC0D3"/>
                </a:solidFill>
                <a:latin typeface="Aptos"/>
              </a:defRPr>
            </a:pPr>
            <a:r>
              <a:t>Strain / deformation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11112" y="2386584"/>
            <a:ext cx="4727448" cy="457200"/>
          </a:xfrm>
          <a:prstGeom prst="round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9984" y="2496312"/>
            <a:ext cx="452628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EC0D3"/>
                </a:solidFill>
                <a:latin typeface="Aptos"/>
              </a:defRPr>
            </a:pPr>
            <a:r>
              <a:t>Helps identify structural stress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2944368"/>
            <a:ext cx="2761488" cy="457200"/>
          </a:xfrm>
          <a:prstGeom prst="round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" y="3054096"/>
            <a:ext cx="25603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F6FAFF"/>
                </a:solidFill>
                <a:latin typeface="Aptos"/>
              </a:defRPr>
            </a:pPr>
            <a:r>
              <a:t>Accelerometer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47872" y="2944368"/>
            <a:ext cx="2990088" cy="457200"/>
          </a:xfrm>
          <a:prstGeom prst="round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66744" y="3054096"/>
            <a:ext cx="2788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EC0D3"/>
                </a:solidFill>
                <a:latin typeface="Aptos"/>
              </a:defRPr>
            </a:pPr>
            <a:r>
              <a:t>Vibration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11112" y="2944368"/>
            <a:ext cx="4727448" cy="457200"/>
          </a:xfrm>
          <a:prstGeom prst="round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9984" y="3054096"/>
            <a:ext cx="452628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EC0D3"/>
                </a:solidFill>
                <a:latin typeface="Aptos"/>
              </a:defRPr>
            </a:pPr>
            <a:r>
              <a:t>Tracks dynamic response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3502152"/>
            <a:ext cx="2761488" cy="457200"/>
          </a:xfrm>
          <a:prstGeom prst="round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" y="3611880"/>
            <a:ext cx="25603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F6FAFF"/>
                </a:solidFill>
                <a:latin typeface="Aptos"/>
              </a:defRPr>
            </a:pPr>
            <a:r>
              <a:t>Temperature sensor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47872" y="3502152"/>
            <a:ext cx="2990088" cy="457200"/>
          </a:xfrm>
          <a:prstGeom prst="round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66744" y="3611880"/>
            <a:ext cx="2788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EC0D3"/>
                </a:solidFill>
                <a:latin typeface="Aptos"/>
              </a:defRPr>
            </a:pPr>
            <a:r>
              <a:t>Temperature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11112" y="3502152"/>
            <a:ext cx="4727448" cy="457200"/>
          </a:xfrm>
          <a:prstGeom prst="round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9984" y="3611880"/>
            <a:ext cx="452628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EC0D3"/>
                </a:solidFill>
                <a:latin typeface="Aptos"/>
              </a:defRPr>
            </a:pPr>
            <a:r>
              <a:t>Captures thermal effects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4059935"/>
            <a:ext cx="2761488" cy="457200"/>
          </a:xfrm>
          <a:prstGeom prst="round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" y="4169663"/>
            <a:ext cx="25603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F6FAFF"/>
                </a:solidFill>
                <a:latin typeface="Aptos"/>
              </a:defRPr>
            </a:pPr>
            <a:r>
              <a:t>Humidity sensor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47872" y="4059935"/>
            <a:ext cx="2990088" cy="457200"/>
          </a:xfrm>
          <a:prstGeom prst="round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66744" y="4169663"/>
            <a:ext cx="2788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EC0D3"/>
                </a:solidFill>
                <a:latin typeface="Aptos"/>
              </a:defRPr>
            </a:pPr>
            <a:r>
              <a:t>Humidity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11112" y="4059935"/>
            <a:ext cx="4727448" cy="457200"/>
          </a:xfrm>
          <a:prstGeom prst="round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9984" y="4169663"/>
            <a:ext cx="452628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EC0D3"/>
                </a:solidFill>
                <a:latin typeface="Aptos"/>
              </a:defRPr>
            </a:pPr>
            <a:r>
              <a:t>Tracks environmental conditions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232" y="4617720"/>
            <a:ext cx="2761488" cy="457200"/>
          </a:xfrm>
          <a:prstGeom prst="round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" y="4727448"/>
            <a:ext cx="25603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F6FAFF"/>
                </a:solidFill>
                <a:latin typeface="Aptos"/>
              </a:defRPr>
            </a:pPr>
            <a:r>
              <a:t>Tilt sensor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547872" y="4617720"/>
            <a:ext cx="2990088" cy="457200"/>
          </a:xfrm>
          <a:prstGeom prst="round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66744" y="4727448"/>
            <a:ext cx="2788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EC0D3"/>
                </a:solidFill>
                <a:latin typeface="Aptos"/>
              </a:defRPr>
            </a:pPr>
            <a:r>
              <a:t>Inclination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11112" y="4617720"/>
            <a:ext cx="4727448" cy="457200"/>
          </a:xfrm>
          <a:prstGeom prst="round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9984" y="4727448"/>
            <a:ext cx="452628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EC0D3"/>
                </a:solidFill>
                <a:latin typeface="Aptos"/>
              </a:defRPr>
            </a:pPr>
            <a:r>
              <a:t>Flags unusual movement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3232" y="5175504"/>
            <a:ext cx="2761488" cy="457200"/>
          </a:xfrm>
          <a:prstGeom prst="round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" y="5285232"/>
            <a:ext cx="25603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F6FAFF"/>
                </a:solidFill>
                <a:latin typeface="Aptos"/>
              </a:defRPr>
            </a:pPr>
            <a:r>
              <a:t>Displacement sensor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547872" y="5175504"/>
            <a:ext cx="2990088" cy="457200"/>
          </a:xfrm>
          <a:prstGeom prst="round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66744" y="5285232"/>
            <a:ext cx="2788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EC0D3"/>
                </a:solidFill>
                <a:latin typeface="Aptos"/>
              </a:defRPr>
            </a:pPr>
            <a:r>
              <a:t>Deflection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11112" y="5175504"/>
            <a:ext cx="4727448" cy="457200"/>
          </a:xfrm>
          <a:prstGeom prst="round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29984" y="5285232"/>
            <a:ext cx="452628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EC0D3"/>
                </a:solidFill>
                <a:latin typeface="Aptos"/>
              </a:defRPr>
            </a:pPr>
            <a:r>
              <a:t>Measures structural movement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5852160"/>
            <a:ext cx="10652760" cy="393192"/>
          </a:xfrm>
          <a:prstGeom prst="round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6112" y="5943600"/>
            <a:ext cx="102870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8BE4EF"/>
                </a:solidFill>
                <a:latin typeface="Aptos"/>
              </a:defRPr>
            </a:pPr>
            <a:r>
              <a:t>Commonly used in bridge SHM: accelerometers, strain gauges and temperature sensors.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64008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5C9BB"/>
                </a:solidFill>
                <a:latin typeface="Aptos"/>
              </a:defRPr>
            </a:pPr>
            <a:r>
              <a:t>04 —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6FAFF"/>
                </a:solidFill>
                <a:latin typeface="Aptos"/>
              </a:defRPr>
            </a:pPr>
            <a:r>
              <a:t>How data becomes an alert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EC0D3"/>
                </a:solidFill>
                <a:latin typeface="Aptos"/>
              </a:defRPr>
            </a:pPr>
            <a:r>
              <a:t>Incoming measurements are compared with baseline or threshold conditions.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329184"/>
            <a:ext cx="594360" cy="64008"/>
          </a:xfrm>
          <a:prstGeom prst="roundRect">
            <a:avLst/>
          </a:prstGeom>
          <a:solidFill>
            <a:srgbClr val="25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AEC0D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56231"/>
            <a:ext cx="6629400" cy="749808"/>
          </a:xfrm>
          <a:prstGeom prst="roundRect">
            <a:avLst/>
          </a:prstGeom>
          <a:solidFill>
            <a:srgbClr val="172D46"/>
          </a:solidFill>
          <a:ln>
            <a:solidFill>
              <a:srgbClr val="8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7552" y="2020824"/>
            <a:ext cx="384048" cy="384048"/>
          </a:xfrm>
          <a:prstGeom prst="ellipse">
            <a:avLst/>
          </a:prstGeom>
          <a:solidFill>
            <a:srgbClr val="8B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103120"/>
            <a:ext cx="384048" cy="137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B193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975103"/>
            <a:ext cx="1920240" cy="24688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6FAFF"/>
                </a:solidFill>
                <a:latin typeface="Aptos"/>
              </a:defRPr>
            </a:pPr>
            <a:r>
              <a:t>Data 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020824"/>
            <a:ext cx="352044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AEC0D3"/>
                </a:solidFill>
                <a:latin typeface="Aptos"/>
              </a:defRPr>
            </a:pPr>
            <a:r>
              <a:t>Sensors capture bridge measurements.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798063"/>
            <a:ext cx="6629400" cy="749808"/>
          </a:xfrm>
          <a:prstGeom prst="roundRect">
            <a:avLst/>
          </a:prstGeom>
          <a:solidFill>
            <a:srgbClr val="172D46"/>
          </a:solidFill>
          <a:ln>
            <a:solidFill>
              <a:srgbClr val="25C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7552" y="2962656"/>
            <a:ext cx="384048" cy="384048"/>
          </a:xfrm>
          <a:prstGeom prst="ellipse">
            <a:avLst/>
          </a:prstGeom>
          <a:solidFill>
            <a:srgbClr val="25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044951"/>
            <a:ext cx="384048" cy="137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B193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2916935"/>
            <a:ext cx="1920240" cy="24688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6FAFF"/>
                </a:solidFill>
                <a:latin typeface="Aptos"/>
              </a:defRPr>
            </a:pPr>
            <a:r>
              <a:t>Data transmission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962656"/>
            <a:ext cx="352044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AEC0D3"/>
                </a:solidFill>
                <a:latin typeface="Aptos"/>
              </a:defRPr>
            </a:pPr>
            <a:r>
              <a:t>Readings travel to the cloud/server.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39896"/>
            <a:ext cx="6629400" cy="749808"/>
          </a:xfrm>
          <a:prstGeom prst="roundRect">
            <a:avLst/>
          </a:prstGeom>
          <a:solidFill>
            <a:srgbClr val="172D46"/>
          </a:solidFill>
          <a:ln>
            <a:solidFill>
              <a:srgbClr val="8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7552" y="3904487"/>
            <a:ext cx="384048" cy="384048"/>
          </a:xfrm>
          <a:prstGeom prst="ellipse">
            <a:avLst/>
          </a:prstGeom>
          <a:solidFill>
            <a:srgbClr val="8B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986783"/>
            <a:ext cx="384048" cy="137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B193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3858768"/>
            <a:ext cx="1920240" cy="24688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6FAFF"/>
                </a:solidFill>
                <a:latin typeface="Aptos"/>
              </a:defRPr>
            </a:pPr>
            <a:r>
              <a:t>Data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904487"/>
            <a:ext cx="352044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AEC0D3"/>
                </a:solidFill>
                <a:latin typeface="Aptos"/>
              </a:defRPr>
            </a:pPr>
            <a:r>
              <a:t>Reduce noise and compare with baseline thresholds.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681727"/>
            <a:ext cx="6629400" cy="749808"/>
          </a:xfrm>
          <a:prstGeom prst="roundRect">
            <a:avLst/>
          </a:prstGeom>
          <a:solidFill>
            <a:srgbClr val="172D46"/>
          </a:solidFill>
          <a:ln>
            <a:solidFill>
              <a:srgbClr val="37D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87552" y="4846319"/>
            <a:ext cx="384048" cy="384048"/>
          </a:xfrm>
          <a:prstGeom prst="ellipse">
            <a:avLst/>
          </a:prstGeom>
          <a:solidFill>
            <a:srgbClr val="37D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4928615"/>
            <a:ext cx="384048" cy="137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0B193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4800599"/>
            <a:ext cx="1920240" cy="24688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6FAFF"/>
                </a:solidFill>
                <a:latin typeface="Aptos"/>
              </a:defRPr>
            </a:pPr>
            <a:r>
              <a:t>Decision &amp; alert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4846319"/>
            <a:ext cx="352044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AEC0D3"/>
                </a:solidFill>
                <a:latin typeface="Aptos"/>
              </a:defRPr>
            </a:pPr>
            <a:r>
              <a:t>Classify as Normal, Warning or Critical.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1856231"/>
            <a:ext cx="3520440" cy="3566160"/>
          </a:xfrm>
          <a:prstGeom prst="round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2121408"/>
            <a:ext cx="29260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F6FAFF"/>
                </a:solidFill>
                <a:latin typeface="Aptos"/>
              </a:defRPr>
            </a:pPr>
            <a:r>
              <a:t>CONDITION STATUS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2743200"/>
            <a:ext cx="2971800" cy="658368"/>
          </a:xfrm>
          <a:prstGeom prst="roundRect">
            <a:avLst/>
          </a:prstGeom>
          <a:solidFill>
            <a:srgbClr val="172D46"/>
          </a:solidFill>
          <a:ln>
            <a:solidFill>
              <a:srgbClr val="37D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2843784"/>
            <a:ext cx="18288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37D59E"/>
                </a:solidFill>
                <a:latin typeface="Aptos"/>
              </a:defRPr>
            </a:pPr>
            <a:r>
              <a:t>NORMAL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3099816"/>
            <a:ext cx="265176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AEC0D3"/>
                </a:solidFill>
                <a:latin typeface="Aptos"/>
              </a:defRPr>
            </a:pPr>
            <a:r>
              <a:t>Continue monitoring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3657600"/>
            <a:ext cx="2971800" cy="658368"/>
          </a:xfrm>
          <a:prstGeom prst="roundRect">
            <a:avLst/>
          </a:prstGeom>
          <a:solidFill>
            <a:srgbClr val="172D46"/>
          </a:solidFill>
          <a:ln>
            <a:solidFill>
              <a:srgbClr val="F4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20" y="3758184"/>
            <a:ext cx="18288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F4B74D"/>
                </a:solidFill>
                <a:latin typeface="Aptos"/>
              </a:defRPr>
            </a:pPr>
            <a:r>
              <a:t>WARNING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4014215"/>
            <a:ext cx="265176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AEC0D3"/>
                </a:solidFill>
                <a:latin typeface="Aptos"/>
              </a:defRPr>
            </a:pPr>
            <a:r>
              <a:t>Check abnormal trend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92440" y="4572000"/>
            <a:ext cx="2971800" cy="658368"/>
          </a:xfrm>
          <a:prstGeom prst="roundRect">
            <a:avLst/>
          </a:prstGeom>
          <a:solidFill>
            <a:srgbClr val="172D46"/>
          </a:solidFill>
          <a:ln>
            <a:solidFill>
              <a:srgbClr val="EB5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5320" y="4672584"/>
            <a:ext cx="182880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EB5C6D"/>
                </a:solidFill>
                <a:latin typeface="Aptos"/>
              </a:defRPr>
            </a:pPr>
            <a:r>
              <a:t>CRITICAL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4928616"/>
            <a:ext cx="265176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AEC0D3"/>
                </a:solidFill>
                <a:latin typeface="Aptos"/>
              </a:defRPr>
            </a:pPr>
            <a:r>
              <a:t>Inspection recommended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897880"/>
            <a:ext cx="103327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AEC0D3"/>
                </a:solidFill>
                <a:latin typeface="Aptos"/>
              </a:defRPr>
            </a:pPr>
            <a:r>
              <a:t>Illustrative example: a rising sensor value crossing a warning threshold can trigger an alert.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64008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25C9BB"/>
                </a:solidFill>
                <a:latin typeface="Aptos"/>
              </a:defRPr>
            </a:pPr>
            <a:r>
              <a:t>05 —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6FAFF"/>
                </a:solidFill>
                <a:latin typeface="Aptos"/>
              </a:defRPr>
            </a:pPr>
            <a:r>
              <a:t>Benefits, applications and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EC0D3"/>
                </a:solidFill>
                <a:latin typeface="Aptos"/>
              </a:defRPr>
            </a:pPr>
            <a:r>
              <a:t>Monitoring supports informed maintenance decisions; it complements, rather than replaces, inspections.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329184"/>
            <a:ext cx="594360" cy="64008"/>
          </a:xfrm>
          <a:prstGeom prst="roundRect">
            <a:avLst/>
          </a:prstGeom>
          <a:solidFill>
            <a:srgbClr val="25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1148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AEC0D3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03520" cy="3429000"/>
          </a:xfrm>
          <a:prstGeom prst="round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64008" cy="3429000"/>
          </a:xfrm>
          <a:prstGeom prst="rect">
            <a:avLst/>
          </a:prstGeom>
          <a:solidFill>
            <a:srgbClr val="25C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48463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6FAFF"/>
                </a:solidFill>
                <a:latin typeface="Aptos"/>
              </a:defRPr>
            </a:pPr>
            <a:r>
              <a:t>KEY 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4846320" cy="26791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AEC0D3"/>
                </a:solidFill>
                <a:latin typeface="Aptos"/>
              </a:defRPr>
            </a:pPr>
            <a:r>
              <a:t>•  Continuous monitoring of bridge condition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AEC0D3"/>
                </a:solidFill>
                <a:latin typeface="Aptos"/>
              </a:defRPr>
            </a:pPr>
            <a:r>
              <a:t>•  Earlier visibility of abnormal behaviour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AEC0D3"/>
                </a:solidFill>
                <a:latin typeface="Aptos"/>
              </a:defRPr>
            </a:pPr>
            <a:r>
              <a:t>•  Remote access to live and historical data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AEC0D3"/>
                </a:solidFill>
                <a:latin typeface="Aptos"/>
              </a:defRPr>
            </a:pPr>
            <a:r>
              <a:t>•  Supports preventive and condition-based maintenance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AEC0D3"/>
                </a:solidFill>
                <a:latin typeface="Aptos"/>
              </a:defRPr>
            </a:pPr>
            <a:r>
              <a:t>•  Improves maintenance planning and decision-making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828800"/>
            <a:ext cx="5349240" cy="1920240"/>
          </a:xfrm>
          <a:prstGeom prst="round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828800"/>
            <a:ext cx="64008" cy="1920240"/>
          </a:xfrm>
          <a:prstGeom prst="rect">
            <a:avLst/>
          </a:prstGeom>
          <a:solidFill>
            <a:srgbClr val="8B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011680"/>
            <a:ext cx="48920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6FAFF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468880"/>
            <a:ext cx="4892040" cy="11704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AEC0D3"/>
                </a:solidFill>
                <a:latin typeface="Aptos"/>
              </a:defRPr>
            </a:pPr>
            <a:r>
              <a:t>•  Highway and railway bridges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AEC0D3"/>
                </a:solidFill>
                <a:latin typeface="Aptos"/>
              </a:defRPr>
            </a:pPr>
            <a:r>
              <a:t>•  Long-span bridges, flyovers and urban viaducts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AEC0D3"/>
                </a:solidFill>
                <a:latin typeface="Aptos"/>
              </a:defRPr>
            </a:pPr>
            <a:r>
              <a:t>•  High-traffic bridges and long-term monitoring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4023360"/>
            <a:ext cx="5349240" cy="1234440"/>
          </a:xfrm>
          <a:prstGeom prst="roundRect">
            <a:avLst/>
          </a:prstGeom>
          <a:solidFill>
            <a:srgbClr val="122B45"/>
          </a:solidFill>
          <a:ln>
            <a:solidFill>
              <a:srgbClr val="37D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224528"/>
            <a:ext cx="45720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37D59E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553712"/>
            <a:ext cx="470916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F6FAFF"/>
                </a:solidFill>
                <a:latin typeface="Aptos"/>
              </a:defRPr>
            </a:pPr>
            <a:r>
              <a:t>Sensors + wireless communication + cloud data + analysis = continuous condition awareness.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06440"/>
            <a:ext cx="1056132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8BE4EF"/>
                </a:solidFill>
                <a:latin typeface="Aptos"/>
              </a:defRPr>
            </a:pPr>
            <a:r>
              <a:t>Outcome: earlier warnings, timely inspection and safer bridge operation.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138160" y="1463040"/>
            <a:ext cx="3108960" cy="3108960"/>
          </a:xfrm>
          <a:prstGeom prst="ellipse">
            <a:avLst/>
          </a:prstGeom>
          <a:noFill/>
          <a:ln w="19050">
            <a:solidFill>
              <a:srgbClr val="1A4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58200" y="1783080"/>
            <a:ext cx="2468880" cy="2468880"/>
          </a:xfrm>
          <a:prstGeom prst="ellipse">
            <a:avLst/>
          </a:prstGeom>
          <a:noFill/>
          <a:ln w="19050">
            <a:solidFill>
              <a:srgbClr val="19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2103120"/>
            <a:ext cx="1828800" cy="1828800"/>
          </a:xfrm>
          <a:prstGeom prst="ellipse">
            <a:avLst/>
          </a:prstGeom>
          <a:noFill/>
          <a:ln w="19050">
            <a:solidFill>
              <a:srgbClr val="25C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21140" y="2446020"/>
            <a:ext cx="1143000" cy="1143000"/>
          </a:xfrm>
          <a:prstGeom prst="ellipse">
            <a:avLst/>
          </a:prstGeom>
          <a:noFill/>
          <a:ln w="19050">
            <a:solidFill>
              <a:srgbClr val="8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6766560" cy="1005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F6FAFF"/>
                </a:solidFill>
                <a:latin typeface="Aptos"/>
              </a:defRPr>
            </a:pPr>
            <a:r>
              <a:t>THANK</a:t>
            </a:r>
          </a:p>
          <a:p>
            <a:pPr algn="l">
              <a:spcAft>
                <a:spcPts val="600"/>
              </a:spcAft>
              <a:defRPr sz="3600" b="1">
                <a:solidFill>
                  <a:srgbClr val="F6FAFF"/>
                </a:solidFill>
                <a:latin typeface="Aptos"/>
              </a:defRPr>
            </a:pPr>
            <a:r>
              <a:t>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37560"/>
            <a:ext cx="62179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8BE4EF"/>
                </a:solidFill>
                <a:latin typeface="Aptos"/>
              </a:defRPr>
            </a:pPr>
            <a:r>
              <a:t>Smart Bridge Health Monitoring Using IoT Sensors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160520"/>
            <a:ext cx="6217920" cy="868680"/>
          </a:xfrm>
          <a:prstGeom prst="round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434840"/>
            <a:ext cx="576072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6FAFF"/>
                </a:solidFill>
                <a:latin typeface="Aptos"/>
              </a:defRPr>
            </a:pPr>
            <a:r>
              <a:t>Gannoji Arshitha  •  Sravana Lakshmi  •  Deekshitha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50292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AEC0D3"/>
                </a:solidFill>
                <a:latin typeface="Aptos"/>
              </a:defRPr>
            </a:pPr>
            <a:r>
              <a:t>B.Tech — Artificial Intelligence &amp; Data Science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10528"/>
            <a:ext cx="41148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AEC0D3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